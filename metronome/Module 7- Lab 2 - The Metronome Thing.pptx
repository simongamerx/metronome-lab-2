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6" r:id="rId1"/>
  </p:sldMasterIdLst>
  <p:notesMasterIdLst>
    <p:notesMasterId r:id="rId18"/>
  </p:notesMasterIdLst>
  <p:sldIdLst>
    <p:sldId id="538" r:id="rId2"/>
    <p:sldId id="257" r:id="rId3"/>
    <p:sldId id="258" r:id="rId4"/>
    <p:sldId id="259" r:id="rId5"/>
    <p:sldId id="260" r:id="rId6"/>
    <p:sldId id="267" r:id="rId7"/>
    <p:sldId id="269" r:id="rId8"/>
    <p:sldId id="270" r:id="rId9"/>
    <p:sldId id="262" r:id="rId10"/>
    <p:sldId id="271" r:id="rId11"/>
    <p:sldId id="263" r:id="rId12"/>
    <p:sldId id="272" r:id="rId13"/>
    <p:sldId id="264" r:id="rId14"/>
    <p:sldId id="265" r:id="rId15"/>
    <p:sldId id="273" r:id="rId16"/>
    <p:sldId id="26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63"/>
    <p:restoredTop sz="94422"/>
  </p:normalViewPr>
  <p:slideViewPr>
    <p:cSldViewPr snapToGrid="0" snapToObjects="1">
      <p:cViewPr varScale="1">
        <p:scale>
          <a:sx n="121" d="100"/>
          <a:sy n="121" d="100"/>
        </p:scale>
        <p:origin x="32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FEAB60-8819-594F-AF3E-FF5F5C4FC4D6}"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A1F898-9438-EA4B-84CE-D8122C47D1CB}" type="slidenum">
              <a:rPr lang="en-US" smtClean="0"/>
              <a:t>‹#›</a:t>
            </a:fld>
            <a:endParaRPr lang="en-US"/>
          </a:p>
        </p:txBody>
      </p:sp>
    </p:spTree>
    <p:extLst>
      <p:ext uri="{BB962C8B-B14F-4D97-AF65-F5344CB8AC3E}">
        <p14:creationId xmlns:p14="http://schemas.microsoft.com/office/powerpoint/2010/main" val="3708411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02AC24A9-CCB6-4F8D-B8DB-C2F3692CFA5A}" type="datetimeFigureOut">
              <a:rPr lang="en-US" smtClean="0"/>
              <a:t>3/10/26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249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3/10/26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85246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02AC24A9-CCB6-4F8D-B8DB-C2F3692CFA5A}" type="datetimeFigureOut">
              <a:rPr lang="en-US" smtClean="0"/>
              <a:t>3/10/26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440307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3/10/26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137279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02AC24A9-CCB6-4F8D-B8DB-C2F3692CFA5A}" type="datetimeFigureOut">
              <a:rPr lang="en-US" smtClean="0"/>
              <a:t>3/10/26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2626719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02AC24A9-CCB6-4F8D-B8DB-C2F3692CFA5A}" type="datetimeFigureOut">
              <a:rPr lang="en-US" smtClean="0"/>
              <a:t>3/10/26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02470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2AC24A9-CCB6-4F8D-B8DB-C2F3692CFA5A}" type="datetimeFigureOut">
              <a:rPr lang="en-US" smtClean="0"/>
              <a:t>3/10/26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645099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3/10/26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2219655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02AC24A9-CCB6-4F8D-B8DB-C2F3692CFA5A}" type="datetimeFigureOut">
              <a:rPr lang="en-US" smtClean="0"/>
              <a:t>3/10/26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12277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02AC24A9-CCB6-4F8D-B8DB-C2F3692CFA5A}" type="datetimeFigureOut">
              <a:rPr lang="en-US" smtClean="0"/>
              <a:t>3/10/26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3786618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02AC24A9-CCB6-4F8D-B8DB-C2F3692CFA5A}" type="datetimeFigureOut">
              <a:rPr lang="en-US" smtClean="0"/>
              <a:t>3/10/26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155871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3/10/26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779121406"/>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5" r:id="rId6"/>
    <p:sldLayoutId id="2147483720" r:id="rId7"/>
    <p:sldLayoutId id="2147483721" r:id="rId8"/>
    <p:sldLayoutId id="2147483722" r:id="rId9"/>
    <p:sldLayoutId id="2147483724" r:id="rId10"/>
    <p:sldLayoutId id="214748372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youtube.com/watch?v=Q-BpqyOT3a8" TargetMode="External"/><Relationship Id="rId2" Type="http://schemas.openxmlformats.org/officeDocument/2006/relationships/hyperlink" Target="https://restapitutorial.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hyperlink" Target="https://www.raspberrypi.com/documentation/computers/os.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88C6FA01-125D-F048-8508-3DDA50BE91CB}"/>
              </a:ext>
            </a:extLst>
          </p:cNvPr>
          <p:cNvSpPr/>
          <p:nvPr/>
        </p:nvSpPr>
        <p:spPr>
          <a:xfrm>
            <a:off x="0" y="14588"/>
            <a:ext cx="9030191" cy="6858000"/>
          </a:xfrm>
          <a:prstGeom prst="rect">
            <a:avLst/>
          </a:prstGeom>
          <a:solidFill>
            <a:schemeClr val="accent6">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94E0CA91-7AED-8144-8F04-CA5CA7117B24}"/>
              </a:ext>
            </a:extLst>
          </p:cNvPr>
          <p:cNvSpPr/>
          <p:nvPr/>
        </p:nvSpPr>
        <p:spPr>
          <a:xfrm>
            <a:off x="9030191" y="14588"/>
            <a:ext cx="3161809" cy="685800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itle 1">
            <a:extLst>
              <a:ext uri="{FF2B5EF4-FFF2-40B4-BE49-F238E27FC236}">
                <a16:creationId xmlns:a16="http://schemas.microsoft.com/office/drawing/2014/main" id="{0052DCF5-46DB-CC44-BB8C-144CAB018379}"/>
              </a:ext>
            </a:extLst>
          </p:cNvPr>
          <p:cNvSpPr>
            <a:spLocks noGrp="1"/>
          </p:cNvSpPr>
          <p:nvPr>
            <p:ph type="ctrTitle"/>
          </p:nvPr>
        </p:nvSpPr>
        <p:spPr>
          <a:xfrm>
            <a:off x="742787" y="848496"/>
            <a:ext cx="8327968" cy="2895490"/>
          </a:xfrm>
        </p:spPr>
        <p:txBody>
          <a:bodyPr anchor="b">
            <a:normAutofit fontScale="90000"/>
          </a:bodyPr>
          <a:lstStyle/>
          <a:p>
            <a:r>
              <a:rPr lang="en-US" sz="3100" b="1" dirty="0"/>
              <a:t>Module 7</a:t>
            </a:r>
            <a:br>
              <a:rPr lang="en-US" sz="3100" b="1" dirty="0"/>
            </a:br>
            <a:br>
              <a:rPr lang="en-US" sz="5400" dirty="0"/>
            </a:br>
            <a:r>
              <a:rPr lang="en-US" sz="5400" b="1" dirty="0"/>
              <a:t>Lab2: The Metronome Thing</a:t>
            </a:r>
            <a:br>
              <a:rPr lang="en-US" sz="4800" b="1" dirty="0">
                <a:latin typeface="Arial" pitchFamily="-105" charset="0"/>
              </a:rPr>
            </a:br>
            <a:endParaRPr lang="en-US" sz="5400" dirty="0"/>
          </a:p>
        </p:txBody>
      </p:sp>
      <p:sp>
        <p:nvSpPr>
          <p:cNvPr id="20" name="Subtitle 2">
            <a:extLst>
              <a:ext uri="{FF2B5EF4-FFF2-40B4-BE49-F238E27FC236}">
                <a16:creationId xmlns:a16="http://schemas.microsoft.com/office/drawing/2014/main" id="{22F579A1-6045-1D44-8FF8-7EE734F68D33}"/>
              </a:ext>
            </a:extLst>
          </p:cNvPr>
          <p:cNvSpPr>
            <a:spLocks noGrp="1"/>
          </p:cNvSpPr>
          <p:nvPr>
            <p:ph type="subTitle" idx="1"/>
          </p:nvPr>
        </p:nvSpPr>
        <p:spPr>
          <a:xfrm>
            <a:off x="742787" y="3233583"/>
            <a:ext cx="8057902" cy="1439438"/>
          </a:xfrm>
        </p:spPr>
        <p:txBody>
          <a:bodyPr>
            <a:normAutofit fontScale="92500"/>
          </a:bodyPr>
          <a:lstStyle/>
          <a:p>
            <a:pPr algn="l"/>
            <a:r>
              <a:rPr lang="en-US" sz="2400" b="1" i="0" dirty="0">
                <a:effectLst/>
                <a:latin typeface="Merriweather" pitchFamily="2" charset="77"/>
              </a:rPr>
              <a:t>B8019 - PROGRAMMING THE INTERNET OF THINGS M</a:t>
            </a:r>
          </a:p>
          <a:p>
            <a:pPr algn="l"/>
            <a:r>
              <a:rPr lang="en-US" sz="2400" b="0" i="0" dirty="0">
                <a:solidFill>
                  <a:srgbClr val="333333"/>
                </a:solidFill>
                <a:effectLst/>
                <a:latin typeface="Merriweather" pitchFamily="2" charset="77"/>
              </a:rPr>
              <a:t>Academic </a:t>
            </a:r>
            <a:r>
              <a:rPr lang="en-US" sz="2400" b="0" i="0">
                <a:solidFill>
                  <a:srgbClr val="333333"/>
                </a:solidFill>
                <a:effectLst/>
                <a:latin typeface="Merriweather" pitchFamily="2" charset="77"/>
              </a:rPr>
              <a:t>Year 2025/2026</a:t>
            </a:r>
            <a:br>
              <a:rPr lang="en-US" sz="3200" dirty="0"/>
            </a:br>
            <a:r>
              <a:rPr lang="en-US" sz="2200" b="0" i="0" dirty="0">
                <a:solidFill>
                  <a:srgbClr val="333333"/>
                </a:solidFill>
                <a:effectLst/>
                <a:latin typeface="SourceSans"/>
              </a:rPr>
              <a:t>Second cycle degree </a:t>
            </a:r>
            <a:r>
              <a:rPr lang="en-US" sz="2200" b="0" i="0" dirty="0" err="1">
                <a:solidFill>
                  <a:srgbClr val="333333"/>
                </a:solidFill>
                <a:effectLst/>
                <a:latin typeface="SourceSans"/>
              </a:rPr>
              <a:t>programme</a:t>
            </a:r>
            <a:r>
              <a:rPr lang="en-US" sz="2200" b="0" i="0" dirty="0">
                <a:solidFill>
                  <a:srgbClr val="333333"/>
                </a:solidFill>
                <a:effectLst/>
                <a:latin typeface="SourceSans"/>
              </a:rPr>
              <a:t> (LM) in Computer Engineering (cod. 5826)</a:t>
            </a:r>
            <a:endParaRPr lang="en-US" sz="3200" dirty="0"/>
          </a:p>
        </p:txBody>
      </p:sp>
      <p:sp>
        <p:nvSpPr>
          <p:cNvPr id="21" name="Subtitle 2">
            <a:extLst>
              <a:ext uri="{FF2B5EF4-FFF2-40B4-BE49-F238E27FC236}">
                <a16:creationId xmlns:a16="http://schemas.microsoft.com/office/drawing/2014/main" id="{8080B198-14FF-264F-822A-BAFFB88690D8}"/>
              </a:ext>
            </a:extLst>
          </p:cNvPr>
          <p:cNvSpPr txBox="1">
            <a:spLocks/>
          </p:cNvSpPr>
          <p:nvPr/>
        </p:nvSpPr>
        <p:spPr>
          <a:xfrm>
            <a:off x="742787" y="4710397"/>
            <a:ext cx="3950623" cy="398016"/>
          </a:xfrm>
          <a:prstGeom prst="rect">
            <a:avLst/>
          </a:prstGeom>
        </p:spPr>
        <p:txBody>
          <a:bodyPr vert="horz" lIns="91440" tIns="45720" rIns="91440" bIns="45720" rtlCol="0">
            <a:normAutofit lnSpcReduction="10000"/>
          </a:bodyPr>
          <a:lstStyle>
            <a:lvl1pPr marL="0" indent="0" algn="l" defTabSz="914400" rtl="0" eaLnBrk="1" latinLnBrk="0" hangingPunct="1">
              <a:lnSpc>
                <a:spcPct val="110000"/>
              </a:lnSpc>
              <a:spcBef>
                <a:spcPts val="1000"/>
              </a:spcBef>
              <a:buFont typeface="Arial" panose="020B0604020202020204" pitchFamily="34" charset="0"/>
              <a:buNone/>
              <a:defRPr sz="28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dirty="0"/>
              <a:t>Prof. </a:t>
            </a:r>
            <a:r>
              <a:rPr lang="en-US" sz="2000" b="1" dirty="0" err="1"/>
              <a:t>Abdelsalam</a:t>
            </a:r>
            <a:r>
              <a:rPr lang="en-US" sz="2000" b="1" dirty="0"/>
              <a:t> </a:t>
            </a:r>
            <a:r>
              <a:rPr lang="en-US" sz="2000" b="1" dirty="0" err="1"/>
              <a:t>Helal</a:t>
            </a:r>
            <a:endParaRPr lang="en-US" sz="2000" b="1" dirty="0"/>
          </a:p>
        </p:txBody>
      </p:sp>
      <p:sp>
        <p:nvSpPr>
          <p:cNvPr id="23" name="TextBox 22">
            <a:extLst>
              <a:ext uri="{FF2B5EF4-FFF2-40B4-BE49-F238E27FC236}">
                <a16:creationId xmlns:a16="http://schemas.microsoft.com/office/drawing/2014/main" id="{CA5E07A0-7D72-F247-9978-8A2471B9FE9D}"/>
              </a:ext>
            </a:extLst>
          </p:cNvPr>
          <p:cNvSpPr txBox="1"/>
          <p:nvPr/>
        </p:nvSpPr>
        <p:spPr>
          <a:xfrm>
            <a:off x="9917240" y="6416798"/>
            <a:ext cx="1830950" cy="253916"/>
          </a:xfrm>
          <a:prstGeom prst="rect">
            <a:avLst/>
          </a:prstGeom>
          <a:noFill/>
        </p:spPr>
        <p:txBody>
          <a:bodyPr wrap="none" rtlCol="0">
            <a:spAutoFit/>
          </a:bodyPr>
          <a:lstStyle/>
          <a:p>
            <a:r>
              <a:rPr lang="en-US" sz="1050" b="1" dirty="0">
                <a:solidFill>
                  <a:schemeClr val="bg1"/>
                </a:solidFill>
              </a:rPr>
              <a:t>© 2020-2026  Sumi Helal</a:t>
            </a:r>
          </a:p>
        </p:txBody>
      </p:sp>
      <p:pic>
        <p:nvPicPr>
          <p:cNvPr id="3" name="Picture 2" descr="A black and white logo&#10;&#10;Description automatically generated">
            <a:extLst>
              <a:ext uri="{FF2B5EF4-FFF2-40B4-BE49-F238E27FC236}">
                <a16:creationId xmlns:a16="http://schemas.microsoft.com/office/drawing/2014/main" id="{CF717BCD-FBDE-5757-674E-5D148CC58AFE}"/>
              </a:ext>
            </a:extLst>
          </p:cNvPr>
          <p:cNvPicPr>
            <a:picLocks noChangeAspect="1"/>
          </p:cNvPicPr>
          <p:nvPr/>
        </p:nvPicPr>
        <p:blipFill>
          <a:blip r:embed="rId2"/>
          <a:stretch>
            <a:fillRect/>
          </a:stretch>
        </p:blipFill>
        <p:spPr>
          <a:xfrm>
            <a:off x="9259693" y="312526"/>
            <a:ext cx="2784943" cy="1074840"/>
          </a:xfrm>
          <a:prstGeom prst="rect">
            <a:avLst/>
          </a:prstGeom>
        </p:spPr>
      </p:pic>
    </p:spTree>
    <p:extLst>
      <p:ext uri="{BB962C8B-B14F-4D97-AF65-F5344CB8AC3E}">
        <p14:creationId xmlns:p14="http://schemas.microsoft.com/office/powerpoint/2010/main" val="1514500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A1CE1-67D0-A643-9AD7-D59F8586BF15}"/>
              </a:ext>
            </a:extLst>
          </p:cNvPr>
          <p:cNvSpPr>
            <a:spLocks noGrp="1"/>
          </p:cNvSpPr>
          <p:nvPr>
            <p:ph type="title"/>
          </p:nvPr>
        </p:nvSpPr>
        <p:spPr/>
        <p:txBody>
          <a:bodyPr/>
          <a:lstStyle/>
          <a:p>
            <a:r>
              <a:rPr lang="en-US" dirty="0"/>
              <a:t>What is a Metronome?</a:t>
            </a:r>
          </a:p>
        </p:txBody>
      </p:sp>
      <p:sp>
        <p:nvSpPr>
          <p:cNvPr id="3" name="Content Placeholder 2">
            <a:extLst>
              <a:ext uri="{FF2B5EF4-FFF2-40B4-BE49-F238E27FC236}">
                <a16:creationId xmlns:a16="http://schemas.microsoft.com/office/drawing/2014/main" id="{C4DB0E9C-8F6C-0D45-9BA5-D03083762B38}"/>
              </a:ext>
            </a:extLst>
          </p:cNvPr>
          <p:cNvSpPr>
            <a:spLocks noGrp="1"/>
          </p:cNvSpPr>
          <p:nvPr>
            <p:ph idx="1"/>
          </p:nvPr>
        </p:nvSpPr>
        <p:spPr>
          <a:xfrm>
            <a:off x="1115567" y="2478024"/>
            <a:ext cx="5978915" cy="3694176"/>
          </a:xfrm>
        </p:spPr>
        <p:txBody>
          <a:bodyPr>
            <a:normAutofit fontScale="85000" lnSpcReduction="20000"/>
          </a:bodyPr>
          <a:lstStyle/>
          <a:p>
            <a:pPr marL="0" indent="0">
              <a:buNone/>
            </a:pPr>
            <a:r>
              <a:rPr lang="en-US" dirty="0"/>
              <a:t>A device that generates a visual or audible pulse at consistent intervals. May generate both visual and audio simultaneously. Used as a pacemaker for playing music. </a:t>
            </a:r>
          </a:p>
          <a:p>
            <a:pPr marL="0" indent="0">
              <a:buNone/>
            </a:pPr>
            <a:r>
              <a:rPr lang="en-US" dirty="0"/>
              <a:t>A common measurement for the speed, or tempo, of a metronome is Beats per Minute (BPM). A metronome at 60 BPM will pulse once every second, and at 120 BPM, twice every second, etc. </a:t>
            </a:r>
          </a:p>
        </p:txBody>
      </p:sp>
      <p:pic>
        <p:nvPicPr>
          <p:cNvPr id="5122" name="Picture 2">
            <a:extLst>
              <a:ext uri="{FF2B5EF4-FFF2-40B4-BE49-F238E27FC236}">
                <a16:creationId xmlns:a16="http://schemas.microsoft.com/office/drawing/2014/main" id="{F4C99B7F-5D2C-B446-8978-9E6A2082C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2727" y="2396005"/>
            <a:ext cx="2411791" cy="2411791"/>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0FC08AE1-84C4-2D40-8501-22EB9B5E08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5716" y="2623294"/>
            <a:ext cx="3046284" cy="3046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5480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F225-1CCE-6341-BD20-751D31FE0F4E}"/>
              </a:ext>
            </a:extLst>
          </p:cNvPr>
          <p:cNvSpPr>
            <a:spLocks noGrp="1"/>
          </p:cNvSpPr>
          <p:nvPr>
            <p:ph type="title"/>
          </p:nvPr>
        </p:nvSpPr>
        <p:spPr/>
        <p:txBody>
          <a:bodyPr/>
          <a:lstStyle/>
          <a:p>
            <a:r>
              <a:rPr lang="en-US" dirty="0"/>
              <a:t>Setting the speed of the Metronome</a:t>
            </a:r>
          </a:p>
        </p:txBody>
      </p:sp>
      <p:sp>
        <p:nvSpPr>
          <p:cNvPr id="3" name="Content Placeholder 2">
            <a:extLst>
              <a:ext uri="{FF2B5EF4-FFF2-40B4-BE49-F238E27FC236}">
                <a16:creationId xmlns:a16="http://schemas.microsoft.com/office/drawing/2014/main" id="{0C60E1BA-B7E1-CA47-ABB6-9F61E5E77907}"/>
              </a:ext>
            </a:extLst>
          </p:cNvPr>
          <p:cNvSpPr>
            <a:spLocks noGrp="1"/>
          </p:cNvSpPr>
          <p:nvPr>
            <p:ph idx="1"/>
          </p:nvPr>
        </p:nvSpPr>
        <p:spPr/>
        <p:txBody>
          <a:bodyPr/>
          <a:lstStyle/>
          <a:p>
            <a:pPr marL="0" indent="0">
              <a:buNone/>
            </a:pPr>
            <a:r>
              <a:rPr lang="en-US" dirty="0"/>
              <a:t>In this assignment, you will set your Metronome by teaching it the desired tempo</a:t>
            </a:r>
          </a:p>
          <a:p>
            <a:pPr marL="0" indent="0">
              <a:buNone/>
            </a:pPr>
            <a:r>
              <a:rPr lang="en-US" i="1" dirty="0"/>
              <a:t>	</a:t>
            </a:r>
            <a:r>
              <a:rPr lang="en-US" i="1" dirty="0">
                <a:solidFill>
                  <a:srgbClr val="0070C0"/>
                </a:solidFill>
              </a:rPr>
              <a:t>You will repeatedly press a button at the desired tempo. 	The metronome will calculate the average time 	between the presses and set the BPM accordingly </a:t>
            </a:r>
          </a:p>
        </p:txBody>
      </p:sp>
    </p:spTree>
    <p:extLst>
      <p:ext uri="{BB962C8B-B14F-4D97-AF65-F5344CB8AC3E}">
        <p14:creationId xmlns:p14="http://schemas.microsoft.com/office/powerpoint/2010/main" val="3205320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453F4-5559-B34E-8CFD-499CE9DFE0A4}"/>
              </a:ext>
            </a:extLst>
          </p:cNvPr>
          <p:cNvSpPr>
            <a:spLocks noGrp="1"/>
          </p:cNvSpPr>
          <p:nvPr>
            <p:ph type="title"/>
          </p:nvPr>
        </p:nvSpPr>
        <p:spPr/>
        <p:txBody>
          <a:bodyPr>
            <a:normAutofit/>
          </a:bodyPr>
          <a:lstStyle/>
          <a:p>
            <a:r>
              <a:rPr lang="en-US" dirty="0"/>
              <a:t>Requirements</a:t>
            </a:r>
            <a:br>
              <a:rPr lang="en-US" dirty="0"/>
            </a:br>
            <a:r>
              <a:rPr lang="en-US" sz="2400" dirty="0"/>
              <a:t>(Bill of Materials)</a:t>
            </a:r>
            <a:endParaRPr lang="en-US" dirty="0"/>
          </a:p>
        </p:txBody>
      </p:sp>
      <p:sp>
        <p:nvSpPr>
          <p:cNvPr id="3" name="Content Placeholder 2">
            <a:extLst>
              <a:ext uri="{FF2B5EF4-FFF2-40B4-BE49-F238E27FC236}">
                <a16:creationId xmlns:a16="http://schemas.microsoft.com/office/drawing/2014/main" id="{F4570299-28A4-6144-AD52-08CD7142D02B}"/>
              </a:ext>
            </a:extLst>
          </p:cNvPr>
          <p:cNvSpPr>
            <a:spLocks noGrp="1"/>
          </p:cNvSpPr>
          <p:nvPr>
            <p:ph idx="1"/>
          </p:nvPr>
        </p:nvSpPr>
        <p:spPr>
          <a:xfrm>
            <a:off x="1115568" y="2207173"/>
            <a:ext cx="10168128" cy="4491920"/>
          </a:xfrm>
        </p:spPr>
        <p:txBody>
          <a:bodyPr>
            <a:normAutofit fontScale="62500" lnSpcReduction="20000"/>
          </a:bodyPr>
          <a:lstStyle/>
          <a:p>
            <a:pPr lvl="0"/>
            <a:r>
              <a:rPr lang="en-US" dirty="0"/>
              <a:t>Raspberry Pi and online manuals and programming tips. </a:t>
            </a:r>
          </a:p>
          <a:p>
            <a:pPr lvl="0"/>
            <a:r>
              <a:rPr lang="en-US" dirty="0"/>
              <a:t>Your laptop</a:t>
            </a:r>
          </a:p>
          <a:p>
            <a:pPr lvl="0"/>
            <a:r>
              <a:rPr lang="en-US" dirty="0"/>
              <a:t>One breadboard</a:t>
            </a:r>
          </a:p>
          <a:p>
            <a:pPr lvl="0"/>
            <a:r>
              <a:rPr lang="en-US" dirty="0"/>
              <a:t>Jumper wires (male to male to use on the breadboard, and female to male jumper wires to connect your IO port on your Pi to the breadboard)</a:t>
            </a:r>
          </a:p>
          <a:p>
            <a:pPr lvl="0"/>
            <a:r>
              <a:rPr lang="en-US" dirty="0"/>
              <a:t>Resistors</a:t>
            </a:r>
          </a:p>
          <a:p>
            <a:pPr lvl="0"/>
            <a:r>
              <a:rPr lang="en-US" b="1" dirty="0"/>
              <a:t>Two LED: one Green and one Red.</a:t>
            </a:r>
          </a:p>
          <a:p>
            <a:pPr lvl="0"/>
            <a:r>
              <a:rPr lang="en-US" b="1" dirty="0"/>
              <a:t>Two pushbuttons</a:t>
            </a:r>
          </a:p>
          <a:p>
            <a:pPr lvl="0"/>
            <a:r>
              <a:rPr lang="en-US" dirty="0"/>
              <a:t>USB-x to Ethernet adaptor cable to connect your Pi to your laptop, or establish a </a:t>
            </a:r>
            <a:r>
              <a:rPr lang="en-US" dirty="0" err="1"/>
              <a:t>wirless</a:t>
            </a:r>
            <a:r>
              <a:rPr lang="en-US" dirty="0"/>
              <a:t> connection. Refer to “</a:t>
            </a:r>
            <a:r>
              <a:rPr lang="en-US" b="1" dirty="0"/>
              <a:t>Lab 1 Appendix on Configuring your Raspberry Pi Remote </a:t>
            </a:r>
            <a:r>
              <a:rPr lang="en-US" b="1" dirty="0" err="1"/>
              <a:t>Connection.pdf</a:t>
            </a:r>
            <a:r>
              <a:rPr lang="en-US" b="1" dirty="0"/>
              <a:t>”</a:t>
            </a:r>
            <a:r>
              <a:rPr lang="en-US" dirty="0"/>
              <a:t>. </a:t>
            </a:r>
          </a:p>
          <a:p>
            <a:pPr lvl="0"/>
            <a:r>
              <a:rPr lang="en-US" dirty="0"/>
              <a:t>Optional: Additional material if you want to also generate Audio beats simultaneously with the LED. </a:t>
            </a:r>
          </a:p>
        </p:txBody>
      </p:sp>
      <p:pic>
        <p:nvPicPr>
          <p:cNvPr id="6146" name="Picture 2" descr="Generating Morse Code on the Raspberry Pi Using a Button on a Breadboard">
            <a:extLst>
              <a:ext uri="{FF2B5EF4-FFF2-40B4-BE49-F238E27FC236}">
                <a16:creationId xmlns:a16="http://schemas.microsoft.com/office/drawing/2014/main" id="{0D3ADBAF-E0FE-A940-B22E-49FA8080F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8322321" y="158908"/>
            <a:ext cx="3381117" cy="27184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E50BE7A-D41E-DC42-8B1F-2FF1B751A55C}"/>
              </a:ext>
            </a:extLst>
          </p:cNvPr>
          <p:cNvSpPr txBox="1"/>
          <p:nvPr/>
        </p:nvSpPr>
        <p:spPr>
          <a:xfrm>
            <a:off x="8226192" y="2849105"/>
            <a:ext cx="3477246" cy="415498"/>
          </a:xfrm>
          <a:prstGeom prst="rect">
            <a:avLst/>
          </a:prstGeom>
          <a:noFill/>
        </p:spPr>
        <p:txBody>
          <a:bodyPr wrap="square" rtlCol="0">
            <a:spAutoFit/>
          </a:bodyPr>
          <a:lstStyle/>
          <a:p>
            <a:r>
              <a:rPr lang="en-US" sz="1050" dirty="0"/>
              <a:t>Your Metronome will look like this. This is not a Metronome, however.</a:t>
            </a:r>
            <a:endParaRPr lang="en-US" dirty="0"/>
          </a:p>
        </p:txBody>
      </p:sp>
    </p:spTree>
    <p:extLst>
      <p:ext uri="{BB962C8B-B14F-4D97-AF65-F5344CB8AC3E}">
        <p14:creationId xmlns:p14="http://schemas.microsoft.com/office/powerpoint/2010/main" val="2741669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6BFC-0CB4-F745-9449-BB27619897D8}"/>
              </a:ext>
            </a:extLst>
          </p:cNvPr>
          <p:cNvSpPr>
            <a:spLocks noGrp="1"/>
          </p:cNvSpPr>
          <p:nvPr>
            <p:ph type="title"/>
          </p:nvPr>
        </p:nvSpPr>
        <p:spPr/>
        <p:txBody>
          <a:bodyPr>
            <a:normAutofit fontScale="90000"/>
          </a:bodyPr>
          <a:lstStyle/>
          <a:p>
            <a:r>
              <a:rPr lang="en-US" dirty="0"/>
              <a:t>Lab 2: Part I</a:t>
            </a:r>
            <a:br>
              <a:rPr lang="en-US" dirty="0"/>
            </a:br>
            <a:r>
              <a:rPr lang="en-US" dirty="0">
                <a:solidFill>
                  <a:srgbClr val="C00000"/>
                </a:solidFill>
              </a:rPr>
              <a:t>Embedded Application</a:t>
            </a:r>
          </a:p>
        </p:txBody>
      </p:sp>
      <p:sp>
        <p:nvSpPr>
          <p:cNvPr id="3" name="Content Placeholder 2">
            <a:extLst>
              <a:ext uri="{FF2B5EF4-FFF2-40B4-BE49-F238E27FC236}">
                <a16:creationId xmlns:a16="http://schemas.microsoft.com/office/drawing/2014/main" id="{58F7EF67-4EDC-B247-9D2F-A92D2DD9DCB3}"/>
              </a:ext>
            </a:extLst>
          </p:cNvPr>
          <p:cNvSpPr>
            <a:spLocks noGrp="1"/>
          </p:cNvSpPr>
          <p:nvPr>
            <p:ph idx="1"/>
          </p:nvPr>
        </p:nvSpPr>
        <p:spPr>
          <a:xfrm>
            <a:off x="1011936" y="2082608"/>
            <a:ext cx="10168128" cy="4775392"/>
          </a:xfrm>
        </p:spPr>
        <p:txBody>
          <a:bodyPr>
            <a:normAutofit/>
          </a:bodyPr>
          <a:lstStyle/>
          <a:p>
            <a:r>
              <a:rPr lang="en-US" sz="2400" dirty="0"/>
              <a:t>You will create the Metronome as a Raspberry Hardware</a:t>
            </a:r>
          </a:p>
          <a:p>
            <a:r>
              <a:rPr lang="en-US" sz="2400" dirty="0"/>
              <a:t>You will then create an externalized representation for the Metronome in the form of </a:t>
            </a:r>
            <a:r>
              <a:rPr lang="en-US" sz="2400" u="sng" dirty="0"/>
              <a:t>RESTful API</a:t>
            </a:r>
          </a:p>
          <a:p>
            <a:r>
              <a:rPr lang="en-US" sz="2400" dirty="0"/>
              <a:t>The metronome should have two modes</a:t>
            </a:r>
          </a:p>
          <a:p>
            <a:pPr lvl="1"/>
            <a:r>
              <a:rPr lang="en-US" sz="2000" b="1" dirty="0"/>
              <a:t>play</a:t>
            </a:r>
            <a:r>
              <a:rPr lang="en-US" sz="2000" dirty="0"/>
              <a:t> mode: which will blink an LED at a given tempo, and </a:t>
            </a:r>
          </a:p>
          <a:p>
            <a:pPr lvl="1"/>
            <a:r>
              <a:rPr lang="en-US" sz="2000" b="1" dirty="0"/>
              <a:t>learn</a:t>
            </a:r>
            <a:r>
              <a:rPr lang="en-US" sz="2000" dirty="0"/>
              <a:t> mode: in which the user will repeatedly press a </a:t>
            </a:r>
            <a:r>
              <a:rPr lang="en-US" sz="2000" b="1" dirty="0"/>
              <a:t>push button (PB1) </a:t>
            </a:r>
            <a:r>
              <a:rPr lang="en-US" sz="2000" dirty="0"/>
              <a:t>to set the tempo. </a:t>
            </a:r>
          </a:p>
          <a:p>
            <a:pPr lvl="1"/>
            <a:r>
              <a:rPr lang="en-US" sz="2000" dirty="0"/>
              <a:t>The two modes will be toggled in between using another </a:t>
            </a:r>
            <a:r>
              <a:rPr lang="en-US" sz="2000" b="1" dirty="0"/>
              <a:t>push button (PB2) </a:t>
            </a:r>
            <a:r>
              <a:rPr lang="en-US" sz="2000" dirty="0"/>
              <a:t>dedicated to switching between play and learn.</a:t>
            </a:r>
          </a:p>
          <a:p>
            <a:r>
              <a:rPr lang="en-US" sz="2400" dirty="0"/>
              <a:t>If you will do Audio, adjust the play mode accordingly. </a:t>
            </a:r>
          </a:p>
        </p:txBody>
      </p:sp>
      <p:pic>
        <p:nvPicPr>
          <p:cNvPr id="7170" name="Picture 2" descr="Tactile Push Button Switch Big – Makestore">
            <a:extLst>
              <a:ext uri="{FF2B5EF4-FFF2-40B4-BE49-F238E27FC236}">
                <a16:creationId xmlns:a16="http://schemas.microsoft.com/office/drawing/2014/main" id="{D172E632-2D37-A64A-A5A2-F2529F3745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31972" y="3294993"/>
            <a:ext cx="1450428" cy="1087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4987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6BFC-0CB4-F745-9449-BB27619897D8}"/>
              </a:ext>
            </a:extLst>
          </p:cNvPr>
          <p:cNvSpPr>
            <a:spLocks noGrp="1"/>
          </p:cNvSpPr>
          <p:nvPr>
            <p:ph type="title"/>
          </p:nvPr>
        </p:nvSpPr>
        <p:spPr/>
        <p:txBody>
          <a:bodyPr>
            <a:normAutofit fontScale="90000"/>
          </a:bodyPr>
          <a:lstStyle/>
          <a:p>
            <a:r>
              <a:rPr lang="en-US" dirty="0"/>
              <a:t>Lab 2: Part I</a:t>
            </a:r>
            <a:br>
              <a:rPr lang="en-US" dirty="0"/>
            </a:br>
            <a:r>
              <a:rPr lang="en-US" dirty="0">
                <a:solidFill>
                  <a:srgbClr val="C00000"/>
                </a:solidFill>
              </a:rPr>
              <a:t>Embedded Application</a:t>
            </a:r>
          </a:p>
        </p:txBody>
      </p:sp>
      <p:sp>
        <p:nvSpPr>
          <p:cNvPr id="3" name="Content Placeholder 2">
            <a:extLst>
              <a:ext uri="{FF2B5EF4-FFF2-40B4-BE49-F238E27FC236}">
                <a16:creationId xmlns:a16="http://schemas.microsoft.com/office/drawing/2014/main" id="{58F7EF67-4EDC-B247-9D2F-A92D2DD9DCB3}"/>
              </a:ext>
            </a:extLst>
          </p:cNvPr>
          <p:cNvSpPr>
            <a:spLocks noGrp="1"/>
          </p:cNvSpPr>
          <p:nvPr>
            <p:ph idx="1"/>
          </p:nvPr>
        </p:nvSpPr>
        <p:spPr>
          <a:xfrm>
            <a:off x="1011936" y="2082608"/>
            <a:ext cx="10168128" cy="4775392"/>
          </a:xfrm>
        </p:spPr>
        <p:txBody>
          <a:bodyPr>
            <a:normAutofit fontScale="92500"/>
          </a:bodyPr>
          <a:lstStyle/>
          <a:p>
            <a:r>
              <a:rPr lang="en-US" dirty="0"/>
              <a:t>In the </a:t>
            </a:r>
            <a:r>
              <a:rPr lang="en-US" b="1" dirty="0"/>
              <a:t>play</a:t>
            </a:r>
            <a:r>
              <a:rPr lang="en-US" dirty="0"/>
              <a:t> mode</a:t>
            </a:r>
          </a:p>
          <a:p>
            <a:pPr lvl="1"/>
            <a:r>
              <a:rPr lang="en-US" dirty="0"/>
              <a:t>The </a:t>
            </a:r>
            <a:r>
              <a:rPr lang="en-US" b="1" dirty="0">
                <a:solidFill>
                  <a:srgbClr val="00B050"/>
                </a:solidFill>
              </a:rPr>
              <a:t>green LED </a:t>
            </a:r>
            <a:r>
              <a:rPr lang="en-US" dirty="0"/>
              <a:t>will blink repeatedly at the previously set tempo. </a:t>
            </a:r>
            <a:r>
              <a:rPr lang="en-US" b="1" dirty="0"/>
              <a:t>On startup, the default mode should be at a tempo of 0, meaning the LED will always be off</a:t>
            </a:r>
            <a:r>
              <a:rPr lang="en-US" dirty="0"/>
              <a:t>.</a:t>
            </a:r>
          </a:p>
          <a:p>
            <a:pPr lvl="1"/>
            <a:endParaRPr lang="en-US" dirty="0"/>
          </a:p>
          <a:p>
            <a:r>
              <a:rPr lang="en-US" dirty="0"/>
              <a:t>In the </a:t>
            </a:r>
            <a:r>
              <a:rPr lang="en-US" b="1" dirty="0"/>
              <a:t>learn</a:t>
            </a:r>
            <a:r>
              <a:rPr lang="en-US" dirty="0"/>
              <a:t> mode</a:t>
            </a:r>
          </a:p>
          <a:p>
            <a:pPr lvl="1"/>
            <a:r>
              <a:rPr lang="en-US" dirty="0"/>
              <a:t>The </a:t>
            </a:r>
            <a:r>
              <a:rPr lang="en-US" b="1" dirty="0">
                <a:solidFill>
                  <a:srgbClr val="FF0000"/>
                </a:solidFill>
              </a:rPr>
              <a:t>red LED </a:t>
            </a:r>
            <a:r>
              <a:rPr lang="en-US" dirty="0"/>
              <a:t>will pulse every time the user presses the button, and the time of the tap will be recorded. Once the user is done tapping (i.e., the user presses the mode button again), the BPM should be calculated and the new value should be reflected in the “play” mode (the green LED). </a:t>
            </a:r>
          </a:p>
          <a:p>
            <a:pPr lvl="1"/>
            <a:r>
              <a:rPr lang="en-US" dirty="0"/>
              <a:t>At least 4 taps are required to create a valid BPM measurement.</a:t>
            </a:r>
          </a:p>
          <a:p>
            <a:pPr lvl="1"/>
            <a:endParaRPr lang="en-US" dirty="0"/>
          </a:p>
          <a:p>
            <a:pPr lvl="1"/>
            <a:endParaRPr lang="en-US" dirty="0"/>
          </a:p>
        </p:txBody>
      </p:sp>
      <p:grpSp>
        <p:nvGrpSpPr>
          <p:cNvPr id="4" name="Group 3">
            <a:extLst>
              <a:ext uri="{FF2B5EF4-FFF2-40B4-BE49-F238E27FC236}">
                <a16:creationId xmlns:a16="http://schemas.microsoft.com/office/drawing/2014/main" id="{EBF390A9-4501-FF41-B043-4D9EEEE84094}"/>
              </a:ext>
            </a:extLst>
          </p:cNvPr>
          <p:cNvGrpSpPr/>
          <p:nvPr/>
        </p:nvGrpSpPr>
        <p:grpSpPr>
          <a:xfrm>
            <a:off x="9166310" y="-2389"/>
            <a:ext cx="2679700" cy="2679700"/>
            <a:chOff x="9413446" y="2673707"/>
            <a:chExt cx="2679700" cy="2679700"/>
          </a:xfrm>
        </p:grpSpPr>
        <p:pic>
          <p:nvPicPr>
            <p:cNvPr id="11266" name="Picture 2" descr="SLR-56MC3F">
              <a:extLst>
                <a:ext uri="{FF2B5EF4-FFF2-40B4-BE49-F238E27FC236}">
                  <a16:creationId xmlns:a16="http://schemas.microsoft.com/office/drawing/2014/main" id="{ABF213CB-EEF3-8644-9E0F-16D7FD8A8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3446" y="2673707"/>
              <a:ext cx="2679700" cy="26797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picture containing tool&#10;&#10;Description automatically generated">
              <a:extLst>
                <a:ext uri="{FF2B5EF4-FFF2-40B4-BE49-F238E27FC236}">
                  <a16:creationId xmlns:a16="http://schemas.microsoft.com/office/drawing/2014/main" id="{0274E5CC-14F1-D047-80B9-AE04AF31AAB7}"/>
                </a:ext>
              </a:extLst>
            </p:cNvPr>
            <p:cNvPicPr>
              <a:picLocks noChangeAspect="1"/>
            </p:cNvPicPr>
            <p:nvPr/>
          </p:nvPicPr>
          <p:blipFill rotWithShape="1">
            <a:blip r:embed="rId3"/>
            <a:srcRect r="14932" b="-1"/>
            <a:stretch/>
          </p:blipFill>
          <p:spPr>
            <a:xfrm>
              <a:off x="10884214" y="3441028"/>
              <a:ext cx="1110078" cy="1688757"/>
            </a:xfrm>
            <a:prstGeom prst="rect">
              <a:avLst/>
            </a:prstGeom>
          </p:spPr>
        </p:pic>
      </p:grpSp>
    </p:spTree>
    <p:extLst>
      <p:ext uri="{BB962C8B-B14F-4D97-AF65-F5344CB8AC3E}">
        <p14:creationId xmlns:p14="http://schemas.microsoft.com/office/powerpoint/2010/main" val="39050162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C6BFC-0CB4-F745-9449-BB27619897D8}"/>
              </a:ext>
            </a:extLst>
          </p:cNvPr>
          <p:cNvSpPr>
            <a:spLocks noGrp="1"/>
          </p:cNvSpPr>
          <p:nvPr>
            <p:ph type="title"/>
          </p:nvPr>
        </p:nvSpPr>
        <p:spPr/>
        <p:txBody>
          <a:bodyPr>
            <a:normAutofit fontScale="90000"/>
          </a:bodyPr>
          <a:lstStyle/>
          <a:p>
            <a:r>
              <a:rPr lang="en-US" dirty="0"/>
              <a:t>Lab 2: Part I</a:t>
            </a:r>
            <a:br>
              <a:rPr lang="en-US" dirty="0"/>
            </a:br>
            <a:r>
              <a:rPr lang="en-US" dirty="0">
                <a:solidFill>
                  <a:srgbClr val="C00000"/>
                </a:solidFill>
              </a:rPr>
              <a:t>RESTful Services</a:t>
            </a:r>
          </a:p>
        </p:txBody>
      </p:sp>
      <p:sp>
        <p:nvSpPr>
          <p:cNvPr id="3" name="Content Placeholder 2">
            <a:extLst>
              <a:ext uri="{FF2B5EF4-FFF2-40B4-BE49-F238E27FC236}">
                <a16:creationId xmlns:a16="http://schemas.microsoft.com/office/drawing/2014/main" id="{58F7EF67-4EDC-B247-9D2F-A92D2DD9DCB3}"/>
              </a:ext>
            </a:extLst>
          </p:cNvPr>
          <p:cNvSpPr>
            <a:spLocks noGrp="1"/>
          </p:cNvSpPr>
          <p:nvPr>
            <p:ph idx="1"/>
          </p:nvPr>
        </p:nvSpPr>
        <p:spPr>
          <a:xfrm>
            <a:off x="960120" y="2082608"/>
            <a:ext cx="10271760" cy="4775392"/>
          </a:xfrm>
        </p:spPr>
        <p:txBody>
          <a:bodyPr>
            <a:normAutofit/>
          </a:bodyPr>
          <a:lstStyle/>
          <a:p>
            <a:r>
              <a:rPr lang="en-US" dirty="0"/>
              <a:t>You will create an </a:t>
            </a:r>
            <a:r>
              <a:rPr lang="en-US" b="1" dirty="0"/>
              <a:t>API for your Metronome Thing</a:t>
            </a:r>
          </a:p>
          <a:p>
            <a:r>
              <a:rPr lang="en-US" dirty="0"/>
              <a:t>You will do this by exposing the following REST </a:t>
            </a:r>
            <a:r>
              <a:rPr lang="en-US" b="1" dirty="0"/>
              <a:t>endpoints</a:t>
            </a:r>
            <a:r>
              <a:rPr lang="en-US" dirty="0"/>
              <a:t> in connection with </a:t>
            </a:r>
            <a:r>
              <a:rPr lang="en-US" b="1" dirty="0"/>
              <a:t>CRUD</a:t>
            </a:r>
            <a:r>
              <a:rPr lang="en-US" dirty="0"/>
              <a:t> Operations:</a:t>
            </a:r>
          </a:p>
          <a:p>
            <a:pPr lvl="1"/>
            <a:r>
              <a:rPr lang="en-US" sz="2000" b="1" dirty="0"/>
              <a:t>/bpm/ (GET, PUT): </a:t>
            </a:r>
            <a:r>
              <a:rPr lang="en-US" sz="2000" dirty="0"/>
              <a:t>The current metronome BPM. Writing a new value here will update the speed the LED blinks at.</a:t>
            </a:r>
          </a:p>
          <a:p>
            <a:pPr lvl="1"/>
            <a:r>
              <a:rPr lang="en-US" sz="2000" b="1" dirty="0"/>
              <a:t>/bpm/min/ (GET, DELETE): </a:t>
            </a:r>
            <a:r>
              <a:rPr lang="en-US" sz="2000" dirty="0"/>
              <a:t>Return the lowest BPM the user has set the metronome to. On delete, reset this value to 0.</a:t>
            </a:r>
          </a:p>
          <a:p>
            <a:pPr lvl="1"/>
            <a:r>
              <a:rPr lang="en-US" sz="2000" b="1" dirty="0"/>
              <a:t>/bpm/max/ (GET, DELETE): </a:t>
            </a:r>
            <a:r>
              <a:rPr lang="en-US" sz="2000" dirty="0"/>
              <a:t>Works the same as the min endpoint, but tracks the highest BPM the user has set.</a:t>
            </a:r>
          </a:p>
          <a:p>
            <a:r>
              <a:rPr lang="en-US" sz="2400" dirty="0"/>
              <a:t>Do not know REST: </a:t>
            </a:r>
            <a:r>
              <a:rPr lang="en-US" sz="2400" dirty="0">
                <a:hlinkClick r:id="rId2"/>
              </a:rPr>
              <a:t>https://restapitutorial.com/</a:t>
            </a:r>
            <a:r>
              <a:rPr lang="en-US" sz="2400" dirty="0"/>
              <a:t> &amp; YouTube </a:t>
            </a:r>
            <a:r>
              <a:rPr lang="en-US" sz="2400" dirty="0">
                <a:hlinkClick r:id="rId3"/>
              </a:rPr>
              <a:t>Video</a:t>
            </a:r>
            <a:r>
              <a:rPr lang="en-US" sz="2400" dirty="0"/>
              <a:t>: Learn RESR in 5 minutes</a:t>
            </a:r>
          </a:p>
          <a:p>
            <a:pPr lvl="1"/>
            <a:endParaRPr lang="en-US" dirty="0"/>
          </a:p>
          <a:p>
            <a:pPr lvl="1"/>
            <a:endParaRPr lang="en-US" dirty="0"/>
          </a:p>
          <a:p>
            <a:pPr lvl="1"/>
            <a:endParaRPr lang="en-US" dirty="0"/>
          </a:p>
        </p:txBody>
      </p:sp>
    </p:spTree>
    <p:extLst>
      <p:ext uri="{BB962C8B-B14F-4D97-AF65-F5344CB8AC3E}">
        <p14:creationId xmlns:p14="http://schemas.microsoft.com/office/powerpoint/2010/main" val="210406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DA47-E794-444B-B49E-9039214EA264}"/>
              </a:ext>
            </a:extLst>
          </p:cNvPr>
          <p:cNvSpPr>
            <a:spLocks noGrp="1"/>
          </p:cNvSpPr>
          <p:nvPr>
            <p:ph type="title"/>
          </p:nvPr>
        </p:nvSpPr>
        <p:spPr/>
        <p:txBody>
          <a:bodyPr/>
          <a:lstStyle/>
          <a:p>
            <a:r>
              <a:rPr lang="en-US" dirty="0"/>
              <a:t>Connecting the Hardware</a:t>
            </a:r>
          </a:p>
        </p:txBody>
      </p:sp>
      <p:sp>
        <p:nvSpPr>
          <p:cNvPr id="3" name="Content Placeholder 2">
            <a:extLst>
              <a:ext uri="{FF2B5EF4-FFF2-40B4-BE49-F238E27FC236}">
                <a16:creationId xmlns:a16="http://schemas.microsoft.com/office/drawing/2014/main" id="{0243F21B-6D63-7344-BD19-0FEDDC19DD2C}"/>
              </a:ext>
            </a:extLst>
          </p:cNvPr>
          <p:cNvSpPr>
            <a:spLocks noGrp="1"/>
          </p:cNvSpPr>
          <p:nvPr>
            <p:ph idx="1"/>
          </p:nvPr>
        </p:nvSpPr>
        <p:spPr>
          <a:xfrm>
            <a:off x="926757" y="2020824"/>
            <a:ext cx="5272875" cy="4499816"/>
          </a:xfrm>
        </p:spPr>
        <p:txBody>
          <a:bodyPr>
            <a:normAutofit fontScale="92500" lnSpcReduction="20000"/>
          </a:bodyPr>
          <a:lstStyle/>
          <a:p>
            <a:r>
              <a:rPr lang="en-US" dirty="0"/>
              <a:t>Connecting the push buttons and the LED lights to your RPi: each pin is numbered so that it can be accessed through your software. See examples on how-to online:</a:t>
            </a:r>
            <a:r>
              <a:rPr lang="en-US" sz="2400" dirty="0"/>
              <a:t> </a:t>
            </a:r>
            <a:r>
              <a:rPr lang="en-US" sz="2400" dirty="0">
                <a:hlinkClick r:id="rId2"/>
              </a:rPr>
              <a:t>https://www.raspberrypi.com/documentation/computers/os.html</a:t>
            </a:r>
            <a:endParaRPr lang="en-US" sz="2400" dirty="0"/>
          </a:p>
          <a:p>
            <a:r>
              <a:rPr lang="en-US" dirty="0"/>
              <a:t>ONLY USE THE 3.3V POWER PINS. The RPi GPIO senses at this voltage, so using 5V may damage the device.</a:t>
            </a:r>
            <a:r>
              <a:rPr lang="en-US" sz="2400" dirty="0"/>
              <a:t> </a:t>
            </a:r>
          </a:p>
          <a:p>
            <a:endParaRPr lang="en-US" dirty="0"/>
          </a:p>
          <a:p>
            <a:endParaRPr lang="en-US" dirty="0"/>
          </a:p>
        </p:txBody>
      </p:sp>
      <p:pic>
        <p:nvPicPr>
          <p:cNvPr id="12290" name="Picture 2">
            <a:extLst>
              <a:ext uri="{FF2B5EF4-FFF2-40B4-BE49-F238E27FC236}">
                <a16:creationId xmlns:a16="http://schemas.microsoft.com/office/drawing/2014/main" id="{AB1E08ED-9CA1-1348-B0A8-BAEE39FD3A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9632" y="1728216"/>
            <a:ext cx="5856323" cy="4792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16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A44A-04B0-384B-88CE-5249C9E35829}"/>
              </a:ext>
            </a:extLst>
          </p:cNvPr>
          <p:cNvSpPr>
            <a:spLocks noGrp="1"/>
          </p:cNvSpPr>
          <p:nvPr>
            <p:ph type="title"/>
          </p:nvPr>
        </p:nvSpPr>
        <p:spPr/>
        <p:txBody>
          <a:bodyPr/>
          <a:lstStyle/>
          <a:p>
            <a:r>
              <a:rPr lang="en-US" dirty="0"/>
              <a:t>Connecting the LED</a:t>
            </a:r>
          </a:p>
        </p:txBody>
      </p:sp>
      <p:sp>
        <p:nvSpPr>
          <p:cNvPr id="3" name="Content Placeholder 2">
            <a:extLst>
              <a:ext uri="{FF2B5EF4-FFF2-40B4-BE49-F238E27FC236}">
                <a16:creationId xmlns:a16="http://schemas.microsoft.com/office/drawing/2014/main" id="{F1A45F01-821F-FA43-B2B8-BDE6DBF12326}"/>
              </a:ext>
            </a:extLst>
          </p:cNvPr>
          <p:cNvSpPr>
            <a:spLocks noGrp="1"/>
          </p:cNvSpPr>
          <p:nvPr>
            <p:ph idx="1"/>
          </p:nvPr>
        </p:nvSpPr>
        <p:spPr>
          <a:xfrm>
            <a:off x="1115568" y="2478024"/>
            <a:ext cx="7064605" cy="3694176"/>
          </a:xfrm>
        </p:spPr>
        <p:txBody>
          <a:bodyPr>
            <a:normAutofit fontScale="77500" lnSpcReduction="20000"/>
          </a:bodyPr>
          <a:lstStyle/>
          <a:p>
            <a:r>
              <a:rPr lang="en-US" dirty="0"/>
              <a:t>To connect the LED, a circuit must be created between an output GPIO pin and a GND pin. Note that if you plug the LED in directly, it will attempt to draw as much current as possible, and probably burn itself out. </a:t>
            </a:r>
          </a:p>
          <a:p>
            <a:r>
              <a:rPr lang="en-US" dirty="0"/>
              <a:t>Therefore, an </a:t>
            </a:r>
            <a:r>
              <a:rPr lang="en-US" b="1" dirty="0"/>
              <a:t>appropriately-sized resistor </a:t>
            </a:r>
            <a:r>
              <a:rPr lang="en-US" dirty="0"/>
              <a:t>must be connected in series with the LED as shown in the exemplary circuit diagram to the right.</a:t>
            </a:r>
          </a:p>
          <a:p>
            <a:r>
              <a:rPr lang="en-US" dirty="0"/>
              <a:t> Pay attention to the orientation of the anode (longer) / cathode (shorter) legs of the LED.</a:t>
            </a:r>
          </a:p>
          <a:p>
            <a:endParaRPr lang="en-US" dirty="0"/>
          </a:p>
        </p:txBody>
      </p:sp>
      <p:pic>
        <p:nvPicPr>
          <p:cNvPr id="4" name="image1.png">
            <a:extLst>
              <a:ext uri="{FF2B5EF4-FFF2-40B4-BE49-F238E27FC236}">
                <a16:creationId xmlns:a16="http://schemas.microsoft.com/office/drawing/2014/main" id="{51FE864C-ACFB-E541-B1C1-188C7F590791}"/>
              </a:ext>
            </a:extLst>
          </p:cNvPr>
          <p:cNvPicPr/>
          <p:nvPr/>
        </p:nvPicPr>
        <p:blipFill>
          <a:blip r:embed="rId2"/>
          <a:srcRect/>
          <a:stretch>
            <a:fillRect/>
          </a:stretch>
        </p:blipFill>
        <p:spPr>
          <a:xfrm>
            <a:off x="8711514" y="3158168"/>
            <a:ext cx="2572182" cy="2686577"/>
          </a:xfrm>
          <a:prstGeom prst="rect">
            <a:avLst/>
          </a:prstGeom>
          <a:ln/>
        </p:spPr>
      </p:pic>
      <p:pic>
        <p:nvPicPr>
          <p:cNvPr id="8194" name="Picture 2" descr="LEDs, buzzers and Scratch games - Lighting an LED | Raspberry Pi Projects">
            <a:extLst>
              <a:ext uri="{FF2B5EF4-FFF2-40B4-BE49-F238E27FC236}">
                <a16:creationId xmlns:a16="http://schemas.microsoft.com/office/drawing/2014/main" id="{14279770-FBB2-F143-A2E8-181CA4D7C8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23550" y="125255"/>
            <a:ext cx="3115599" cy="180185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2EF39060-80C7-4D48-98AF-156A43F69E83}"/>
              </a:ext>
            </a:extLst>
          </p:cNvPr>
          <p:cNvSpPr txBox="1"/>
          <p:nvPr/>
        </p:nvSpPr>
        <p:spPr>
          <a:xfrm>
            <a:off x="8439805" y="2008446"/>
            <a:ext cx="3115599" cy="738664"/>
          </a:xfrm>
          <a:prstGeom prst="rect">
            <a:avLst/>
          </a:prstGeom>
          <a:noFill/>
        </p:spPr>
        <p:txBody>
          <a:bodyPr wrap="square" rtlCol="0">
            <a:spAutoFit/>
          </a:bodyPr>
          <a:lstStyle/>
          <a:p>
            <a:r>
              <a:rPr lang="en-US" sz="1050" dirty="0"/>
              <a:t>Your use of resistor to connect your Raspberry Pi to an LED light will look something like this. The above may not exactly what you will be doing. </a:t>
            </a:r>
            <a:endParaRPr lang="en-US" dirty="0"/>
          </a:p>
        </p:txBody>
      </p:sp>
    </p:spTree>
    <p:extLst>
      <p:ext uri="{BB962C8B-B14F-4D97-AF65-F5344CB8AC3E}">
        <p14:creationId xmlns:p14="http://schemas.microsoft.com/office/powerpoint/2010/main" val="209680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3BA44A-04B0-384B-88CE-5249C9E35829}"/>
              </a:ext>
            </a:extLst>
          </p:cNvPr>
          <p:cNvSpPr>
            <a:spLocks noGrp="1"/>
          </p:cNvSpPr>
          <p:nvPr>
            <p:ph type="title"/>
          </p:nvPr>
        </p:nvSpPr>
        <p:spPr/>
        <p:txBody>
          <a:bodyPr/>
          <a:lstStyle/>
          <a:p>
            <a:r>
              <a:rPr lang="en-US" dirty="0"/>
              <a:t>Connecting the Push Buttons</a:t>
            </a:r>
          </a:p>
        </p:txBody>
      </p:sp>
      <p:sp>
        <p:nvSpPr>
          <p:cNvPr id="3" name="Content Placeholder 2">
            <a:extLst>
              <a:ext uri="{FF2B5EF4-FFF2-40B4-BE49-F238E27FC236}">
                <a16:creationId xmlns:a16="http://schemas.microsoft.com/office/drawing/2014/main" id="{F1A45F01-821F-FA43-B2B8-BDE6DBF12326}"/>
              </a:ext>
            </a:extLst>
          </p:cNvPr>
          <p:cNvSpPr>
            <a:spLocks noGrp="1"/>
          </p:cNvSpPr>
          <p:nvPr>
            <p:ph idx="1"/>
          </p:nvPr>
        </p:nvSpPr>
        <p:spPr>
          <a:xfrm>
            <a:off x="714704" y="2112579"/>
            <a:ext cx="7465470" cy="4059621"/>
          </a:xfrm>
        </p:spPr>
        <p:txBody>
          <a:bodyPr>
            <a:normAutofit fontScale="70000" lnSpcReduction="20000"/>
          </a:bodyPr>
          <a:lstStyle/>
          <a:p>
            <a:r>
              <a:rPr lang="en-US" dirty="0"/>
              <a:t>To connect the push button, a circuit must be created with 3.3V on one side, and an input GPIO pin on the other. This way, once the button is pushed, the 3.3V (“HIGH”) signal is connected to the input pin. In this configuration, however, the pin has no way to sense when it is not pressed, since it has no connection to GND (“LOW”)—this is called a “floating” input, and will return noise (random HIGH/LOW) in this state. </a:t>
            </a:r>
          </a:p>
          <a:p>
            <a:r>
              <a:rPr lang="en-US" dirty="0"/>
              <a:t>To make sure the button always reads LOW when it is not pressed, we need </a:t>
            </a:r>
            <a:r>
              <a:rPr lang="en-US" b="1" dirty="0"/>
              <a:t>a pull-down resistor </a:t>
            </a:r>
            <a:r>
              <a:rPr lang="en-US" dirty="0"/>
              <a:t>connecting it to ground. The resistor makes sure the GPIO pin is always connected, but will be “overridden” by the "un-resisted” HIGH signal when pressed </a:t>
            </a:r>
          </a:p>
          <a:p>
            <a:endParaRPr lang="en-US" dirty="0"/>
          </a:p>
        </p:txBody>
      </p:sp>
      <p:pic>
        <p:nvPicPr>
          <p:cNvPr id="5" name="image2.png">
            <a:extLst>
              <a:ext uri="{FF2B5EF4-FFF2-40B4-BE49-F238E27FC236}">
                <a16:creationId xmlns:a16="http://schemas.microsoft.com/office/drawing/2014/main" id="{1532E488-5667-A546-8C17-8FA5816BD2CC}"/>
              </a:ext>
            </a:extLst>
          </p:cNvPr>
          <p:cNvPicPr/>
          <p:nvPr/>
        </p:nvPicPr>
        <p:blipFill>
          <a:blip r:embed="rId2"/>
          <a:srcRect/>
          <a:stretch>
            <a:fillRect/>
          </a:stretch>
        </p:blipFill>
        <p:spPr>
          <a:xfrm>
            <a:off x="8584187" y="3378658"/>
            <a:ext cx="2797525" cy="2589656"/>
          </a:xfrm>
          <a:prstGeom prst="rect">
            <a:avLst/>
          </a:prstGeom>
          <a:ln/>
        </p:spPr>
      </p:pic>
      <p:sp>
        <p:nvSpPr>
          <p:cNvPr id="7" name="TextBox 6">
            <a:extLst>
              <a:ext uri="{FF2B5EF4-FFF2-40B4-BE49-F238E27FC236}">
                <a16:creationId xmlns:a16="http://schemas.microsoft.com/office/drawing/2014/main" id="{2EF39060-80C7-4D48-98AF-156A43F69E83}"/>
              </a:ext>
            </a:extLst>
          </p:cNvPr>
          <p:cNvSpPr txBox="1"/>
          <p:nvPr/>
        </p:nvSpPr>
        <p:spPr>
          <a:xfrm>
            <a:off x="8584187" y="2302014"/>
            <a:ext cx="3115599" cy="738664"/>
          </a:xfrm>
          <a:prstGeom prst="rect">
            <a:avLst/>
          </a:prstGeom>
          <a:noFill/>
        </p:spPr>
        <p:txBody>
          <a:bodyPr wrap="square" rtlCol="0">
            <a:spAutoFit/>
          </a:bodyPr>
          <a:lstStyle/>
          <a:p>
            <a:r>
              <a:rPr lang="en-US" sz="1050" dirty="0"/>
              <a:t>Your use of resistor to connect your Raspberry Pi to an LED light will look something like this. The above may not exactly what you will be doing. </a:t>
            </a:r>
            <a:endParaRPr lang="en-US" dirty="0"/>
          </a:p>
        </p:txBody>
      </p:sp>
      <p:pic>
        <p:nvPicPr>
          <p:cNvPr id="14338" name="Picture 2">
            <a:extLst>
              <a:ext uri="{FF2B5EF4-FFF2-40B4-BE49-F238E27FC236}">
                <a16:creationId xmlns:a16="http://schemas.microsoft.com/office/drawing/2014/main" id="{FD00C8A2-BA43-C641-944C-7509C15C10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16200000">
            <a:off x="9086497" y="-101298"/>
            <a:ext cx="2110978" cy="2479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318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77C98-BB04-1248-BF59-4354D56345B7}"/>
              </a:ext>
            </a:extLst>
          </p:cNvPr>
          <p:cNvSpPr>
            <a:spLocks noGrp="1"/>
          </p:cNvSpPr>
          <p:nvPr>
            <p:ph type="title"/>
          </p:nvPr>
        </p:nvSpPr>
        <p:spPr/>
        <p:txBody>
          <a:bodyPr/>
          <a:lstStyle/>
          <a:p>
            <a:r>
              <a:rPr lang="en-US" dirty="0"/>
              <a:t>Getting Started</a:t>
            </a:r>
          </a:p>
        </p:txBody>
      </p:sp>
      <p:sp>
        <p:nvSpPr>
          <p:cNvPr id="3" name="Content Placeholder 2">
            <a:extLst>
              <a:ext uri="{FF2B5EF4-FFF2-40B4-BE49-F238E27FC236}">
                <a16:creationId xmlns:a16="http://schemas.microsoft.com/office/drawing/2014/main" id="{CC060F2A-A3AD-0C43-8FE2-5ADE0765214C}"/>
              </a:ext>
            </a:extLst>
          </p:cNvPr>
          <p:cNvSpPr>
            <a:spLocks noGrp="1"/>
          </p:cNvSpPr>
          <p:nvPr>
            <p:ph idx="1"/>
          </p:nvPr>
        </p:nvSpPr>
        <p:spPr>
          <a:xfrm>
            <a:off x="821805" y="2301570"/>
            <a:ext cx="5464325" cy="4358722"/>
          </a:xfrm>
        </p:spPr>
        <p:txBody>
          <a:bodyPr>
            <a:normAutofit fontScale="92500"/>
          </a:bodyPr>
          <a:lstStyle/>
          <a:p>
            <a:r>
              <a:rPr lang="en-US" dirty="0"/>
              <a:t>A Metronome shell is provided to get you started (unpack </a:t>
            </a:r>
            <a:r>
              <a:rPr lang="en-US" b="1" dirty="0" err="1"/>
              <a:t>metronome.zip</a:t>
            </a:r>
            <a:r>
              <a:rPr lang="en-US" b="1" dirty="0"/>
              <a:t> </a:t>
            </a:r>
            <a:r>
              <a:rPr lang="en-US" dirty="0"/>
              <a:t>to your RPi)</a:t>
            </a:r>
          </a:p>
          <a:p>
            <a:r>
              <a:rPr lang="en-US" dirty="0"/>
              <a:t>See &amp; understand what it already implements for you</a:t>
            </a:r>
          </a:p>
          <a:p>
            <a:r>
              <a:rPr lang="en-US" dirty="0"/>
              <a:t>Add a a working (undepreciated) Pi wiring library so you are able to reference the pins. Example:  </a:t>
            </a:r>
            <a:r>
              <a:rPr lang="en-US" sz="2200" i="1" dirty="0" err="1">
                <a:solidFill>
                  <a:schemeClr val="tx2">
                    <a:lumMod val="50000"/>
                    <a:lumOff val="50000"/>
                  </a:schemeClr>
                </a:solidFill>
              </a:rPr>
              <a:t>sudo</a:t>
            </a:r>
            <a:r>
              <a:rPr lang="en-US" sz="2200" i="1" dirty="0">
                <a:solidFill>
                  <a:schemeClr val="tx2">
                    <a:lumMod val="50000"/>
                    <a:lumOff val="50000"/>
                  </a:schemeClr>
                </a:solidFill>
              </a:rPr>
              <a:t> apt install </a:t>
            </a:r>
            <a:r>
              <a:rPr lang="en-US" sz="2200" i="1" dirty="0" err="1">
                <a:solidFill>
                  <a:schemeClr val="tx2">
                    <a:lumMod val="50000"/>
                    <a:lumOff val="50000"/>
                  </a:schemeClr>
                </a:solidFill>
              </a:rPr>
              <a:t>wiringpi</a:t>
            </a:r>
            <a:r>
              <a:rPr lang="en-US" sz="2200" i="1" dirty="0">
                <a:solidFill>
                  <a:schemeClr val="tx2">
                    <a:lumMod val="50000"/>
                    <a:lumOff val="50000"/>
                  </a:schemeClr>
                </a:solidFill>
              </a:rPr>
              <a:t> </a:t>
            </a:r>
            <a:r>
              <a:rPr lang="en-US" sz="2200" i="1" dirty="0" err="1">
                <a:solidFill>
                  <a:schemeClr val="tx2">
                    <a:lumMod val="50000"/>
                    <a:lumOff val="50000"/>
                  </a:schemeClr>
                </a:solidFill>
              </a:rPr>
              <a:t>libcpprest</a:t>
            </a:r>
            <a:r>
              <a:rPr lang="en-US" sz="2200" i="1" dirty="0">
                <a:solidFill>
                  <a:schemeClr val="tx2">
                    <a:lumMod val="50000"/>
                    <a:lumOff val="50000"/>
                  </a:schemeClr>
                </a:solidFill>
              </a:rPr>
              <a:t>-dev</a:t>
            </a:r>
            <a:endParaRPr lang="en-US" i="1" dirty="0">
              <a:solidFill>
                <a:schemeClr val="tx2">
                  <a:lumMod val="50000"/>
                  <a:lumOff val="50000"/>
                </a:schemeClr>
              </a:solidFill>
            </a:endParaRPr>
          </a:p>
          <a:p>
            <a:endParaRPr lang="en-US" dirty="0"/>
          </a:p>
        </p:txBody>
      </p:sp>
      <p:pic>
        <p:nvPicPr>
          <p:cNvPr id="4" name="Picture 3">
            <a:extLst>
              <a:ext uri="{FF2B5EF4-FFF2-40B4-BE49-F238E27FC236}">
                <a16:creationId xmlns:a16="http://schemas.microsoft.com/office/drawing/2014/main" id="{A327B336-BAE6-D64F-9AB8-EFA050ADB543}"/>
              </a:ext>
            </a:extLst>
          </p:cNvPr>
          <p:cNvPicPr>
            <a:picLocks noChangeAspect="1"/>
          </p:cNvPicPr>
          <p:nvPr/>
        </p:nvPicPr>
        <p:blipFill>
          <a:blip r:embed="rId2"/>
          <a:stretch>
            <a:fillRect/>
          </a:stretch>
        </p:blipFill>
        <p:spPr>
          <a:xfrm>
            <a:off x="6286131" y="-24714"/>
            <a:ext cx="5910623" cy="6858000"/>
          </a:xfrm>
          <a:prstGeom prst="rect">
            <a:avLst/>
          </a:prstGeom>
        </p:spPr>
      </p:pic>
    </p:spTree>
    <p:extLst>
      <p:ext uri="{BB962C8B-B14F-4D97-AF65-F5344CB8AC3E}">
        <p14:creationId xmlns:p14="http://schemas.microsoft.com/office/powerpoint/2010/main" val="1069145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D59F0-5A49-A144-8CE5-ABFE914C6D07}"/>
              </a:ext>
            </a:extLst>
          </p:cNvPr>
          <p:cNvSpPr>
            <a:spLocks noGrp="1"/>
          </p:cNvSpPr>
          <p:nvPr>
            <p:ph type="title"/>
          </p:nvPr>
        </p:nvSpPr>
        <p:spPr/>
        <p:txBody>
          <a:bodyPr/>
          <a:lstStyle/>
          <a:p>
            <a:r>
              <a:rPr lang="en-US" dirty="0"/>
              <a:t>Implementing </a:t>
            </a:r>
            <a:r>
              <a:rPr lang="en-US" dirty="0" err="1"/>
              <a:t>metronome.hpp</a:t>
            </a:r>
            <a:endParaRPr lang="en-US" dirty="0"/>
          </a:p>
        </p:txBody>
      </p:sp>
      <p:sp>
        <p:nvSpPr>
          <p:cNvPr id="3" name="Content Placeholder 2">
            <a:extLst>
              <a:ext uri="{FF2B5EF4-FFF2-40B4-BE49-F238E27FC236}">
                <a16:creationId xmlns:a16="http://schemas.microsoft.com/office/drawing/2014/main" id="{310ED536-E774-ED4D-B04B-08E3313652BC}"/>
              </a:ext>
            </a:extLst>
          </p:cNvPr>
          <p:cNvSpPr>
            <a:spLocks noGrp="1"/>
          </p:cNvSpPr>
          <p:nvPr>
            <p:ph idx="1"/>
          </p:nvPr>
        </p:nvSpPr>
        <p:spPr/>
        <p:txBody>
          <a:bodyPr>
            <a:normAutofit fontScale="92500" lnSpcReduction="20000"/>
          </a:bodyPr>
          <a:lstStyle/>
          <a:p>
            <a:r>
              <a:rPr lang="en-US" dirty="0"/>
              <a:t>Note that the base project also contains the header </a:t>
            </a:r>
            <a:r>
              <a:rPr lang="en-US" b="1" i="1" dirty="0" err="1">
                <a:solidFill>
                  <a:srgbClr val="7030A0"/>
                </a:solidFill>
              </a:rPr>
              <a:t>metronome.hpp</a:t>
            </a:r>
            <a:r>
              <a:rPr lang="en-US" dirty="0"/>
              <a:t>. This contains the definitions for the functionality of the metronome itself. </a:t>
            </a:r>
          </a:p>
          <a:p>
            <a:r>
              <a:rPr lang="en-US" dirty="0"/>
              <a:t>You will need to write the implementation of this class. The metronome should </a:t>
            </a:r>
            <a:r>
              <a:rPr lang="en-US" b="1" dirty="0" err="1">
                <a:solidFill>
                  <a:srgbClr val="7030A0"/>
                </a:solidFill>
              </a:rPr>
              <a:t>start_timing</a:t>
            </a:r>
            <a:r>
              <a:rPr lang="en-US" b="1" dirty="0">
                <a:solidFill>
                  <a:srgbClr val="7030A0"/>
                </a:solidFill>
              </a:rPr>
              <a:t>() </a:t>
            </a:r>
            <a:r>
              <a:rPr lang="en-US" dirty="0"/>
              <a:t>in the “learn” mode and </a:t>
            </a:r>
            <a:r>
              <a:rPr lang="en-US" b="1" i="1" dirty="0" err="1">
                <a:solidFill>
                  <a:srgbClr val="7030A0"/>
                </a:solidFill>
              </a:rPr>
              <a:t>stop_timing</a:t>
            </a:r>
            <a:r>
              <a:rPr lang="en-US" b="1" i="1" dirty="0">
                <a:solidFill>
                  <a:srgbClr val="7030A0"/>
                </a:solidFill>
              </a:rPr>
              <a:t>() </a:t>
            </a:r>
            <a:r>
              <a:rPr lang="en-US" dirty="0"/>
              <a:t>upon return to the “play” mode. </a:t>
            </a:r>
          </a:p>
          <a:p>
            <a:r>
              <a:rPr lang="en-US" dirty="0"/>
              <a:t>While timing, each press of the button should record the current time. The </a:t>
            </a:r>
            <a:r>
              <a:rPr lang="en-US" b="1" i="1" dirty="0" err="1">
                <a:solidFill>
                  <a:srgbClr val="7030A0"/>
                </a:solidFill>
              </a:rPr>
              <a:t>m_beats</a:t>
            </a:r>
            <a:r>
              <a:rPr lang="en-US" b="1" i="1" dirty="0">
                <a:solidFill>
                  <a:srgbClr val="7030A0"/>
                </a:solidFill>
              </a:rPr>
              <a:t> </a:t>
            </a:r>
            <a:r>
              <a:rPr lang="en-US" dirty="0"/>
              <a:t>array can be used to implement a running average—only the most recent </a:t>
            </a:r>
            <a:r>
              <a:rPr lang="en-US" b="1" dirty="0">
                <a:solidFill>
                  <a:srgbClr val="7030A0"/>
                </a:solidFill>
              </a:rPr>
              <a:t>N</a:t>
            </a:r>
            <a:r>
              <a:rPr lang="en-US" dirty="0"/>
              <a:t> taps are recorded.</a:t>
            </a:r>
          </a:p>
          <a:p>
            <a:endParaRPr lang="en-US" dirty="0"/>
          </a:p>
        </p:txBody>
      </p:sp>
    </p:spTree>
    <p:extLst>
      <p:ext uri="{BB962C8B-B14F-4D97-AF65-F5344CB8AC3E}">
        <p14:creationId xmlns:p14="http://schemas.microsoft.com/office/powerpoint/2010/main" val="3190795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93AFA-E555-BA4F-A4E8-19AB8197EC48}"/>
              </a:ext>
            </a:extLst>
          </p:cNvPr>
          <p:cNvSpPr>
            <a:spLocks noGrp="1"/>
          </p:cNvSpPr>
          <p:nvPr>
            <p:ph type="title"/>
          </p:nvPr>
        </p:nvSpPr>
        <p:spPr/>
        <p:txBody>
          <a:bodyPr/>
          <a:lstStyle/>
          <a:p>
            <a:r>
              <a:rPr lang="en-US" dirty="0"/>
              <a:t>Compiling the Metronome</a:t>
            </a:r>
          </a:p>
        </p:txBody>
      </p:sp>
      <p:sp>
        <p:nvSpPr>
          <p:cNvPr id="3" name="Content Placeholder 2">
            <a:extLst>
              <a:ext uri="{FF2B5EF4-FFF2-40B4-BE49-F238E27FC236}">
                <a16:creationId xmlns:a16="http://schemas.microsoft.com/office/drawing/2014/main" id="{FEE891B4-F4F8-134C-94A1-7BAAEC8EFC7F}"/>
              </a:ext>
            </a:extLst>
          </p:cNvPr>
          <p:cNvSpPr>
            <a:spLocks noGrp="1"/>
          </p:cNvSpPr>
          <p:nvPr>
            <p:ph idx="1"/>
          </p:nvPr>
        </p:nvSpPr>
        <p:spPr>
          <a:xfrm>
            <a:off x="1011936" y="2150076"/>
            <a:ext cx="10168128" cy="4510216"/>
          </a:xfrm>
        </p:spPr>
        <p:txBody>
          <a:bodyPr>
            <a:normAutofit fontScale="62500" lnSpcReduction="20000"/>
          </a:bodyPr>
          <a:lstStyle/>
          <a:p>
            <a:pPr marL="0" indent="0">
              <a:buNone/>
            </a:pPr>
            <a:r>
              <a:rPr lang="en-US" sz="3500" dirty="0"/>
              <a:t>Be sure to specify the LED and button pin numbers that correspond to your physical circuit setup. Once configured, you can compile the program with the following command (on your Raspberry Pi, inside the cloned folder):</a:t>
            </a:r>
          </a:p>
          <a:p>
            <a:pPr marL="0" indent="0">
              <a:buNone/>
            </a:pPr>
            <a:r>
              <a:rPr lang="en-US" sz="3500" dirty="0"/>
              <a:t>	</a:t>
            </a:r>
            <a:r>
              <a:rPr lang="en-US" sz="3500" b="1" i="1" dirty="0" err="1">
                <a:solidFill>
                  <a:srgbClr val="7030A0"/>
                </a:solidFill>
              </a:rPr>
              <a:t>mkdir</a:t>
            </a:r>
            <a:r>
              <a:rPr lang="en-US" sz="3500" b="1" i="1" dirty="0">
                <a:solidFill>
                  <a:srgbClr val="7030A0"/>
                </a:solidFill>
              </a:rPr>
              <a:t> build &amp;&amp; cd build</a:t>
            </a:r>
          </a:p>
          <a:p>
            <a:pPr marL="0" indent="0">
              <a:buNone/>
            </a:pPr>
            <a:r>
              <a:rPr lang="en-US" sz="3500" b="1" i="1" dirty="0">
                <a:solidFill>
                  <a:srgbClr val="7030A0"/>
                </a:solidFill>
              </a:rPr>
              <a:t>	</a:t>
            </a:r>
            <a:r>
              <a:rPr lang="en-US" sz="3500" b="1" i="1" dirty="0" err="1">
                <a:solidFill>
                  <a:srgbClr val="7030A0"/>
                </a:solidFill>
              </a:rPr>
              <a:t>cmake</a:t>
            </a:r>
            <a:r>
              <a:rPr lang="en-US" sz="3500" b="1" i="1" dirty="0">
                <a:solidFill>
                  <a:srgbClr val="7030A0"/>
                </a:solidFill>
              </a:rPr>
              <a:t> ..</a:t>
            </a:r>
          </a:p>
          <a:p>
            <a:pPr marL="0" indent="0">
              <a:buNone/>
            </a:pPr>
            <a:r>
              <a:rPr lang="en-US" sz="3500" b="1" i="1" dirty="0">
                <a:solidFill>
                  <a:srgbClr val="7030A0"/>
                </a:solidFill>
              </a:rPr>
              <a:t>    	 make</a:t>
            </a:r>
          </a:p>
          <a:p>
            <a:pPr marL="0" indent="0">
              <a:buNone/>
            </a:pPr>
            <a:r>
              <a:rPr lang="en-US" sz="3500" dirty="0"/>
              <a:t>The program can then be run using this command:</a:t>
            </a:r>
          </a:p>
          <a:p>
            <a:pPr marL="0" indent="0">
              <a:buNone/>
            </a:pPr>
            <a:r>
              <a:rPr lang="en-US" sz="3500" dirty="0"/>
              <a:t>	</a:t>
            </a:r>
            <a:r>
              <a:rPr lang="en-US" sz="3500" b="1" dirty="0">
                <a:solidFill>
                  <a:srgbClr val="7030A0"/>
                </a:solidFill>
              </a:rPr>
              <a:t>./main</a:t>
            </a:r>
          </a:p>
          <a:p>
            <a:pPr marL="0" indent="0">
              <a:buNone/>
            </a:pPr>
            <a:r>
              <a:rPr lang="en-US" sz="3500" dirty="0"/>
              <a:t>Note that on subsequent builds, only make needs to be run. The sample also exposes a simple REST service that should be accessible through the same IP you use to SSH into your device, on port 8080</a:t>
            </a:r>
            <a:r>
              <a:rPr lang="en-US" dirty="0"/>
              <a:t>.</a:t>
            </a:r>
          </a:p>
          <a:p>
            <a:pPr marL="0" indent="0">
              <a:buNone/>
            </a:pPr>
            <a:endParaRPr lang="en-US" dirty="0"/>
          </a:p>
        </p:txBody>
      </p:sp>
    </p:spTree>
    <p:extLst>
      <p:ext uri="{BB962C8B-B14F-4D97-AF65-F5344CB8AC3E}">
        <p14:creationId xmlns:p14="http://schemas.microsoft.com/office/powerpoint/2010/main" val="1611800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CAD11-11E9-164A-B3D5-552E9FD08A6C}"/>
              </a:ext>
            </a:extLst>
          </p:cNvPr>
          <p:cNvSpPr>
            <a:spLocks noGrp="1"/>
          </p:cNvSpPr>
          <p:nvPr>
            <p:ph type="title"/>
          </p:nvPr>
        </p:nvSpPr>
        <p:spPr/>
        <p:txBody>
          <a:bodyPr>
            <a:normAutofit fontScale="90000"/>
          </a:bodyPr>
          <a:lstStyle/>
          <a:p>
            <a:r>
              <a:rPr lang="en-US" dirty="0"/>
              <a:t>Lab 2: Part II</a:t>
            </a:r>
            <a:br>
              <a:rPr lang="en-US" dirty="0"/>
            </a:br>
            <a:r>
              <a:rPr lang="en-US" dirty="0">
                <a:solidFill>
                  <a:srgbClr val="C00000"/>
                </a:solidFill>
              </a:rPr>
              <a:t>HTML Dashboard for your Metronome</a:t>
            </a:r>
          </a:p>
        </p:txBody>
      </p:sp>
      <p:sp>
        <p:nvSpPr>
          <p:cNvPr id="3" name="Content Placeholder 2">
            <a:extLst>
              <a:ext uri="{FF2B5EF4-FFF2-40B4-BE49-F238E27FC236}">
                <a16:creationId xmlns:a16="http://schemas.microsoft.com/office/drawing/2014/main" id="{B4C59469-3310-1843-9FC6-B479680E5471}"/>
              </a:ext>
            </a:extLst>
          </p:cNvPr>
          <p:cNvSpPr>
            <a:spLocks noGrp="1"/>
          </p:cNvSpPr>
          <p:nvPr>
            <p:ph idx="1"/>
          </p:nvPr>
        </p:nvSpPr>
        <p:spPr/>
        <p:txBody>
          <a:bodyPr>
            <a:normAutofit fontScale="92500" lnSpcReduction="10000"/>
          </a:bodyPr>
          <a:lstStyle/>
          <a:p>
            <a:r>
              <a:rPr lang="en-US" dirty="0"/>
              <a:t>For this part of the lab, you will create a web dashboard application to interact with your embedded service. </a:t>
            </a:r>
          </a:p>
          <a:p>
            <a:r>
              <a:rPr lang="en-US" dirty="0"/>
              <a:t>The application will allow you to easily interact with your REST endpoints.</a:t>
            </a:r>
          </a:p>
          <a:p>
            <a:r>
              <a:rPr lang="en-US" dirty="0"/>
              <a:t>Therefore, your web application should allow you to:</a:t>
            </a:r>
          </a:p>
          <a:p>
            <a:pPr lvl="1"/>
            <a:r>
              <a:rPr lang="en-US" sz="2600" dirty="0"/>
              <a:t>Refresh the current BPM, along with the minimum and maximum.</a:t>
            </a:r>
          </a:p>
          <a:p>
            <a:pPr lvl="1"/>
            <a:r>
              <a:rPr lang="en-US" sz="2600" dirty="0"/>
              <a:t>Set a new BPM on the device.</a:t>
            </a:r>
          </a:p>
          <a:p>
            <a:pPr lvl="1"/>
            <a:r>
              <a:rPr lang="en-US" sz="2600" dirty="0"/>
              <a:t>Reset the current minimum and maximum BPM.</a:t>
            </a:r>
          </a:p>
          <a:p>
            <a:endParaRPr lang="en-US" dirty="0"/>
          </a:p>
        </p:txBody>
      </p:sp>
    </p:spTree>
    <p:extLst>
      <p:ext uri="{BB962C8B-B14F-4D97-AF65-F5344CB8AC3E}">
        <p14:creationId xmlns:p14="http://schemas.microsoft.com/office/powerpoint/2010/main" val="1766098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 name="Rectangle 70">
            <a:extLst>
              <a:ext uri="{FF2B5EF4-FFF2-40B4-BE49-F238E27FC236}">
                <a16:creationId xmlns:a16="http://schemas.microsoft.com/office/drawing/2014/main" id="{F94AA2BD-2E3F-4B1D-8127-5744B81153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2A5540-6DDD-914C-8166-C07DADD67B4F}"/>
              </a:ext>
            </a:extLst>
          </p:cNvPr>
          <p:cNvSpPr>
            <a:spLocks noGrp="1"/>
          </p:cNvSpPr>
          <p:nvPr>
            <p:ph type="title"/>
          </p:nvPr>
        </p:nvSpPr>
        <p:spPr>
          <a:xfrm>
            <a:off x="411480" y="987552"/>
            <a:ext cx="4485861" cy="1088136"/>
          </a:xfrm>
        </p:spPr>
        <p:txBody>
          <a:bodyPr anchor="b">
            <a:normAutofit/>
          </a:bodyPr>
          <a:lstStyle/>
          <a:p>
            <a:r>
              <a:rPr lang="en-US" sz="3400"/>
              <a:t>Your Dashboard</a:t>
            </a:r>
          </a:p>
        </p:txBody>
      </p:sp>
      <p:sp>
        <p:nvSpPr>
          <p:cNvPr id="73" name="Rectangle 72">
            <a:extLst>
              <a:ext uri="{FF2B5EF4-FFF2-40B4-BE49-F238E27FC236}">
                <a16:creationId xmlns:a16="http://schemas.microsoft.com/office/drawing/2014/main" id="{4BD02261-2DC8-4AA8-9E16-7751AE892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5" name="Rectangle 74">
            <a:extLst>
              <a:ext uri="{FF2B5EF4-FFF2-40B4-BE49-F238E27FC236}">
                <a16:creationId xmlns:a16="http://schemas.microsoft.com/office/drawing/2014/main" id="{3D752CF2-2291-40B5-B462-C17B174C10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6000"/>
            <a:ext cx="4389120"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DA005C5D-FA51-3A4A-907A-03FA1DE1EE95}"/>
              </a:ext>
            </a:extLst>
          </p:cNvPr>
          <p:cNvSpPr>
            <a:spLocks noGrp="1"/>
          </p:cNvSpPr>
          <p:nvPr>
            <p:ph idx="1"/>
          </p:nvPr>
        </p:nvSpPr>
        <p:spPr>
          <a:xfrm>
            <a:off x="411479" y="2688336"/>
            <a:ext cx="4498848" cy="3584448"/>
          </a:xfrm>
        </p:spPr>
        <p:txBody>
          <a:bodyPr anchor="t">
            <a:normAutofit/>
          </a:bodyPr>
          <a:lstStyle/>
          <a:p>
            <a:pPr>
              <a:lnSpc>
                <a:spcPct val="100000"/>
              </a:lnSpc>
            </a:pPr>
            <a:r>
              <a:rPr lang="en-US" sz="1700"/>
              <a:t>The dashboard should be implemented as a simple HTML and JavaScript project. </a:t>
            </a:r>
          </a:p>
          <a:p>
            <a:pPr>
              <a:lnSpc>
                <a:spcPct val="100000"/>
              </a:lnSpc>
            </a:pPr>
            <a:r>
              <a:rPr lang="en-US" sz="1700"/>
              <a:t>It should present some simple styling to visualize the BPM values and allow the user to interact with the API through a set of buttons. While simple, use some “skins” to make the dashboard intuitive to use</a:t>
            </a:r>
          </a:p>
          <a:p>
            <a:pPr>
              <a:lnSpc>
                <a:spcPct val="100000"/>
              </a:lnSpc>
            </a:pPr>
            <a:r>
              <a:rPr lang="en-US" sz="1700"/>
              <a:t>No specific format or layout is necessary, but the user should be able to interact with all endpoints offered by the RPi through the dashboard.</a:t>
            </a:r>
          </a:p>
          <a:p>
            <a:pPr>
              <a:lnSpc>
                <a:spcPct val="100000"/>
              </a:lnSpc>
            </a:pPr>
            <a:endParaRPr lang="en-US" sz="1700"/>
          </a:p>
        </p:txBody>
      </p:sp>
      <p:pic>
        <p:nvPicPr>
          <p:cNvPr id="16386" name="Picture 2" descr="Instala Home Assistant paso a paso en tu Raspberry Pi">
            <a:extLst>
              <a:ext uri="{FF2B5EF4-FFF2-40B4-BE49-F238E27FC236}">
                <a16:creationId xmlns:a16="http://schemas.microsoft.com/office/drawing/2014/main" id="{EF2744E2-22FB-964F-BCA2-DD5AA06FC2E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806" r="29005"/>
          <a:stretch/>
        </p:blipFill>
        <p:spPr bwMode="auto">
          <a:xfrm>
            <a:off x="5308052" y="10"/>
            <a:ext cx="6883948" cy="6857990"/>
          </a:xfrm>
          <a:custGeom>
            <a:avLst/>
            <a:gdLst/>
            <a:ahLst/>
            <a:cxnLst/>
            <a:rect l="l" t="t" r="r" b="b"/>
            <a:pathLst>
              <a:path w="6883948" h="6858000">
                <a:moveTo>
                  <a:pt x="365648" y="0"/>
                </a:moveTo>
                <a:lnTo>
                  <a:pt x="6883948" y="0"/>
                </a:lnTo>
                <a:lnTo>
                  <a:pt x="6883948" y="6858000"/>
                </a:lnTo>
                <a:lnTo>
                  <a:pt x="365648" y="6858000"/>
                </a:lnTo>
                <a:lnTo>
                  <a:pt x="360213" y="6835050"/>
                </a:lnTo>
                <a:cubicBezTo>
                  <a:pt x="128263" y="5788167"/>
                  <a:pt x="0" y="4637179"/>
                  <a:pt x="0" y="3429001"/>
                </a:cubicBezTo>
                <a:cubicBezTo>
                  <a:pt x="0" y="2220824"/>
                  <a:pt x="128263" y="1069835"/>
                  <a:pt x="360213" y="22952"/>
                </a:cubicBezTo>
                <a:close/>
              </a:path>
            </a:pathLst>
          </a:custGeom>
          <a:noFill/>
          <a:effectLst>
            <a:outerShdw blurRad="50800" dist="38100" dir="10800000" algn="r" rotWithShape="0">
              <a:schemeClr val="bg1">
                <a:lumMod val="85000"/>
                <a:alpha val="30000"/>
              </a:scheme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12108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0783-2900-AE44-9008-B1F8C9140C9D}"/>
              </a:ext>
            </a:extLst>
          </p:cNvPr>
          <p:cNvSpPr>
            <a:spLocks noGrp="1"/>
          </p:cNvSpPr>
          <p:nvPr>
            <p:ph type="title"/>
          </p:nvPr>
        </p:nvSpPr>
        <p:spPr/>
        <p:txBody>
          <a:bodyPr>
            <a:normAutofit fontScale="90000"/>
          </a:bodyPr>
          <a:lstStyle/>
          <a:p>
            <a:r>
              <a:rPr lang="en-US" dirty="0"/>
              <a:t>Submission ad Demonstration Requirements</a:t>
            </a:r>
          </a:p>
        </p:txBody>
      </p:sp>
      <p:sp>
        <p:nvSpPr>
          <p:cNvPr id="3" name="Content Placeholder 2">
            <a:extLst>
              <a:ext uri="{FF2B5EF4-FFF2-40B4-BE49-F238E27FC236}">
                <a16:creationId xmlns:a16="http://schemas.microsoft.com/office/drawing/2014/main" id="{43C36CED-8360-1243-868B-B62306961F1F}"/>
              </a:ext>
            </a:extLst>
          </p:cNvPr>
          <p:cNvSpPr>
            <a:spLocks noGrp="1"/>
          </p:cNvSpPr>
          <p:nvPr>
            <p:ph idx="1"/>
          </p:nvPr>
        </p:nvSpPr>
        <p:spPr/>
        <p:txBody>
          <a:bodyPr>
            <a:normAutofit fontScale="92500" lnSpcReduction="10000"/>
          </a:bodyPr>
          <a:lstStyle/>
          <a:p>
            <a:r>
              <a:rPr lang="en-US" dirty="0"/>
              <a:t>Submit a </a:t>
            </a:r>
            <a:r>
              <a:rPr lang="en-US" i="1" dirty="0"/>
              <a:t>.zip</a:t>
            </a:r>
            <a:r>
              <a:rPr lang="en-US" dirty="0"/>
              <a:t> file containing a separate folder for each part. </a:t>
            </a:r>
          </a:p>
          <a:p>
            <a:pPr lvl="1"/>
            <a:r>
              <a:rPr lang="en-US" dirty="0"/>
              <a:t>For part one, </a:t>
            </a:r>
            <a:r>
              <a:rPr lang="en-US" b="1" dirty="0"/>
              <a:t>delete</a:t>
            </a:r>
            <a:r>
              <a:rPr lang="en-US" dirty="0"/>
              <a:t> the build folder containing your compilation artifacts, and rename the top-level metronome folder to </a:t>
            </a:r>
            <a:r>
              <a:rPr lang="en-US" b="1" dirty="0"/>
              <a:t>part1</a:t>
            </a:r>
            <a:r>
              <a:rPr lang="en-US" dirty="0"/>
              <a:t>. </a:t>
            </a:r>
          </a:p>
          <a:p>
            <a:pPr lvl="1"/>
            <a:r>
              <a:rPr lang="en-US" dirty="0"/>
              <a:t>For part two, name the directory containing your HTML, JavaScript, and any supporting files </a:t>
            </a:r>
            <a:r>
              <a:rPr lang="en-US" b="1" dirty="0"/>
              <a:t>part2</a:t>
            </a:r>
            <a:r>
              <a:rPr lang="en-US" dirty="0"/>
              <a:t>. </a:t>
            </a:r>
          </a:p>
          <a:p>
            <a:pPr lvl="1"/>
            <a:r>
              <a:rPr lang="en-US" dirty="0"/>
              <a:t>The final </a:t>
            </a:r>
            <a:r>
              <a:rPr lang="en-US" i="1" dirty="0"/>
              <a:t>.zip</a:t>
            </a:r>
            <a:r>
              <a:rPr lang="en-US" dirty="0"/>
              <a:t> submission should contain these two folders along with a </a:t>
            </a:r>
            <a:r>
              <a:rPr lang="en-US" b="1" dirty="0"/>
              <a:t>pdf </a:t>
            </a:r>
            <a:r>
              <a:rPr lang="en-US" dirty="0"/>
              <a:t>detailing the relative contributions of your group members. </a:t>
            </a:r>
          </a:p>
          <a:p>
            <a:r>
              <a:rPr lang="en-US" dirty="0"/>
              <a:t>In-class demos will be scheduled right after the due date.</a:t>
            </a:r>
          </a:p>
          <a:p>
            <a:pPr lvl="1"/>
            <a:r>
              <a:rPr lang="en-US" b="1" dirty="0"/>
              <a:t>Keep your lab materials assembled and ready to deliver the demo</a:t>
            </a:r>
            <a:r>
              <a:rPr lang="en-US" b="1"/>
              <a:t>. </a:t>
            </a:r>
            <a:endParaRPr lang="en-US" dirty="0"/>
          </a:p>
          <a:p>
            <a:endParaRPr lang="en-US" dirty="0"/>
          </a:p>
          <a:p>
            <a:endParaRPr lang="en-US" dirty="0"/>
          </a:p>
        </p:txBody>
      </p:sp>
    </p:spTree>
    <p:extLst>
      <p:ext uri="{BB962C8B-B14F-4D97-AF65-F5344CB8AC3E}">
        <p14:creationId xmlns:p14="http://schemas.microsoft.com/office/powerpoint/2010/main" val="308665024"/>
      </p:ext>
    </p:extLst>
  </p:cSld>
  <p:clrMapOvr>
    <a:masterClrMapping/>
  </p:clrMapOvr>
</p:sld>
</file>

<file path=ppt/theme/theme1.xml><?xml version="1.0" encoding="utf-8"?>
<a:theme xmlns:a="http://schemas.openxmlformats.org/drawingml/2006/main" name="AccentBoxVTI">
  <a:themeElements>
    <a:clrScheme name="AnalogousFromDarkSeedLeftStep">
      <a:dk1>
        <a:srgbClr val="000000"/>
      </a:dk1>
      <a:lt1>
        <a:srgbClr val="FFFFFF"/>
      </a:lt1>
      <a:dk2>
        <a:srgbClr val="242541"/>
      </a:dk2>
      <a:lt2>
        <a:srgbClr val="E2E8E3"/>
      </a:lt2>
      <a:accent1>
        <a:srgbClr val="E729BA"/>
      </a:accent1>
      <a:accent2>
        <a:srgbClr val="B217D5"/>
      </a:accent2>
      <a:accent3>
        <a:srgbClr val="7529E7"/>
      </a:accent3>
      <a:accent4>
        <a:srgbClr val="393CDB"/>
      </a:accent4>
      <a:accent5>
        <a:srgbClr val="297BE7"/>
      </a:accent5>
      <a:accent6>
        <a:srgbClr val="16B3CE"/>
      </a:accent6>
      <a:hlink>
        <a:srgbClr val="4E6EC4"/>
      </a:hlink>
      <a:folHlink>
        <a:srgbClr val="7F7F7F"/>
      </a:folHlink>
    </a:clrScheme>
    <a:fontScheme name="Avenir">
      <a:majorFont>
        <a:latin typeface="Avenir Next LT Pro"/>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4480</TotalTime>
  <Words>1599</Words>
  <Application>Microsoft Macintosh PowerPoint</Application>
  <PresentationFormat>Widescreen</PresentationFormat>
  <Paragraphs>91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SourceSans</vt:lpstr>
      <vt:lpstr>Arial</vt:lpstr>
      <vt:lpstr>Avenir Next LT Pro</vt:lpstr>
      <vt:lpstr>Calibri</vt:lpstr>
      <vt:lpstr>Merriweather</vt:lpstr>
      <vt:lpstr>AccentBoxVTI</vt:lpstr>
      <vt:lpstr>Module 7  Lab2: The Metronome Thing </vt:lpstr>
      <vt:lpstr>What is a Metronome?</vt:lpstr>
      <vt:lpstr>Setting the speed of the Metronome</vt:lpstr>
      <vt:lpstr>Requirements (Bill of Materials)</vt:lpstr>
      <vt:lpstr>Lab 2: Part I Embedded Application</vt:lpstr>
      <vt:lpstr>Lab 2: Part I Embedded Application</vt:lpstr>
      <vt:lpstr>Lab 2: Part I RESTful Services</vt:lpstr>
      <vt:lpstr>Connecting the Hardware</vt:lpstr>
      <vt:lpstr>Connecting the LED</vt:lpstr>
      <vt:lpstr>Connecting the Push Buttons</vt:lpstr>
      <vt:lpstr>Getting Started</vt:lpstr>
      <vt:lpstr>Implementing metronome.hpp</vt:lpstr>
      <vt:lpstr>Compiling the Metronome</vt:lpstr>
      <vt:lpstr>Lab 2: Part II HTML Dashboard for your Metronome</vt:lpstr>
      <vt:lpstr>Your Dashboard</vt:lpstr>
      <vt:lpstr>Submission ad Demonstration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From the Newton to the iPhone</dc:title>
  <dc:creator>Sumi Helal</dc:creator>
  <cp:lastModifiedBy>Helal, Sumi</cp:lastModifiedBy>
  <cp:revision>28</cp:revision>
  <dcterms:created xsi:type="dcterms:W3CDTF">2020-09-01T03:53:45Z</dcterms:created>
  <dcterms:modified xsi:type="dcterms:W3CDTF">2026-03-10T14:03:43Z</dcterms:modified>
</cp:coreProperties>
</file>